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5119350" cy="21383625"/>
  <p:notesSz cx="21383625" cy="151193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99674FCC-757B-A829-A236-354072484DBE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6" d="100"/>
          <a:sy n="36" d="100"/>
        </p:scale>
        <p:origin x="226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8012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A2(420x594mm) 세로 포스터. PNG 내보내기는 학교 안내(고해상도 옵션)에 따라 진행. 글꼴은 Noto Sans KR(Regular·Bold) 설치 필요. 대표 화면은 사진 우클릭 → 그림 변경으로 교체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11200" y="952500"/>
            <a:ext cx="4191000" cy="157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0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대표 화면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32431" y="429703"/>
            <a:ext cx="6576354" cy="4840797"/>
          </a:xfrm>
          <a:prstGeom prst="rect">
            <a:avLst/>
          </a:prstGeom>
        </p:spPr>
      </p:pic>
      <p:sp>
        <p:nvSpPr>
          <p:cNvPr id="2" name="행사명"/>
          <p:cNvSpPr txBox="1"/>
          <p:nvPr/>
        </p:nvSpPr>
        <p:spPr>
          <a:xfrm>
            <a:off x="711200" y="431800"/>
            <a:ext cx="647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충북대학교  ·  2026년 </a:t>
            </a:r>
            <a:r>
              <a:rPr lang="en-US" sz="1800" b="1" dirty="0" err="1">
                <a:solidFill>
                  <a:schemeClr val="accen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캡스톤디자인</a:t>
            </a:r>
            <a:r>
              <a:rPr lang="en-US" sz="1800" b="1" dirty="0">
                <a:solidFill>
                  <a:schemeClr val="accen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800" b="1" dirty="0" err="1">
                <a:solidFill>
                  <a:schemeClr val="accen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졸업작품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" name="로고" descr="RuSQL 로고(여우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848" y="1104899"/>
            <a:ext cx="2654300" cy="26543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57412" y="952500"/>
            <a:ext cx="5130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RuSQL</a:t>
            </a:r>
            <a:endParaRPr 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부제"/>
          <p:cNvSpPr txBox="1"/>
          <p:nvPr/>
        </p:nvSpPr>
        <p:spPr>
          <a:xfrm>
            <a:off x="711200" y="2908300"/>
            <a:ext cx="622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AI/MCP 통합 관계형</a:t>
            </a:r>
            <a:endParaRPr lang="en-US" sz="3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데이터베이스 관리 시스템</a:t>
            </a:r>
            <a:endParaRPr lang="en-US" sz="3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소개글"/>
          <p:cNvSpPr txBox="1"/>
          <p:nvPr/>
        </p:nvSpPr>
        <p:spPr>
          <a:xfrm>
            <a:off x="711200" y="4305300"/>
            <a:ext cx="6032500" cy="92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altLang="ko-KR" sz="1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RDMBS(</a:t>
            </a:r>
            <a:r>
              <a:rPr lang="ko-KR" altLang="en-US" sz="1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관계형 데이터베이스 관리 시스템</a:t>
            </a:r>
            <a:r>
              <a:rPr lang="en-US" altLang="ko-KR" sz="1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를 구현하고</a:t>
            </a:r>
            <a:r>
              <a:rPr lang="en-US" altLang="ko-KR" sz="1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이를 다루는 데스크톱 관리 도구와 </a:t>
            </a:r>
            <a:r>
              <a:rPr lang="en-US" altLang="ko-KR" sz="1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AI/MCP </a:t>
            </a:r>
            <a:r>
              <a:rPr lang="ko-KR" altLang="en-US" sz="1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기술의 연동 기능을 갖춘 </a:t>
            </a:r>
            <a:r>
              <a:rPr lang="en-US" altLang="ko-KR" sz="1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MySQL </a:t>
            </a:r>
            <a:r>
              <a:rPr lang="ko-KR" altLang="en-US" sz="1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프로토콜</a:t>
            </a:r>
            <a:r>
              <a:rPr lang="en-US" altLang="ko-KR" sz="1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(3306)</a:t>
            </a:r>
            <a:r>
              <a:rPr lang="ko-KR" altLang="en-US" sz="1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 호환되는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오픈소스 소프트웨어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화면 설명"/>
          <p:cNvSpPr txBox="1"/>
          <p:nvPr/>
        </p:nvSpPr>
        <p:spPr>
          <a:xfrm>
            <a:off x="7832431" y="5335494"/>
            <a:ext cx="7061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&lt;</a:t>
            </a:r>
            <a:r>
              <a:rPr 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이미지</a:t>
            </a: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: </a:t>
            </a:r>
            <a:r>
              <a:rPr 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RuSQL</a:t>
            </a: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메인</a:t>
            </a: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화면</a:t>
            </a:r>
            <a:r>
              <a:rPr 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&gt;</a:t>
            </a:r>
          </a:p>
        </p:txBody>
      </p:sp>
      <p:sp>
        <p:nvSpPr>
          <p:cNvPr id="120" name="팀 번호 라벨"/>
          <p:cNvSpPr txBox="1"/>
          <p:nvPr/>
        </p:nvSpPr>
        <p:spPr>
          <a:xfrm>
            <a:off x="711200" y="59182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팀 번호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1" name="팀 번호 값"/>
          <p:cNvSpPr txBox="1"/>
          <p:nvPr/>
        </p:nvSpPr>
        <p:spPr>
          <a:xfrm>
            <a:off x="711200" y="6197600"/>
            <a:ext cx="121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1-09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2" name="Shape 팀 번호"/>
          <p:cNvSpPr/>
          <p:nvPr/>
        </p:nvSpPr>
        <p:spPr>
          <a:xfrm>
            <a:off x="2082800" y="5943600"/>
            <a:ext cx="0" cy="83820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0" name="지도교수 라벨"/>
          <p:cNvSpPr txBox="1"/>
          <p:nvPr/>
        </p:nvSpPr>
        <p:spPr>
          <a:xfrm>
            <a:off x="2235200" y="5918200"/>
            <a:ext cx="137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지도교수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지도교수 이름"/>
          <p:cNvSpPr txBox="1"/>
          <p:nvPr/>
        </p:nvSpPr>
        <p:spPr>
          <a:xfrm>
            <a:off x="2235200" y="6197600"/>
            <a:ext cx="137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이종연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팀장 라벨"/>
          <p:cNvSpPr txBox="1"/>
          <p:nvPr/>
        </p:nvSpPr>
        <p:spPr>
          <a:xfrm>
            <a:off x="3911600" y="5918200"/>
            <a:ext cx="332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팀장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팀장 이름"/>
          <p:cNvSpPr txBox="1"/>
          <p:nvPr/>
        </p:nvSpPr>
        <p:spPr>
          <a:xfrm>
            <a:off x="3911600" y="6197600"/>
            <a:ext cx="332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김규현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팀장 소속"/>
          <p:cNvSpPr txBox="1"/>
          <p:nvPr/>
        </p:nvSpPr>
        <p:spPr>
          <a:xfrm>
            <a:off x="3911600" y="6553200"/>
            <a:ext cx="332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충북대학교 소프트웨어학과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759200" y="5943600"/>
            <a:ext cx="0" cy="83820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6" name="팀원 라벨"/>
          <p:cNvSpPr txBox="1"/>
          <p:nvPr/>
        </p:nvSpPr>
        <p:spPr>
          <a:xfrm>
            <a:off x="7543800" y="5918200"/>
            <a:ext cx="685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팀원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팀원 이름"/>
          <p:cNvSpPr txBox="1"/>
          <p:nvPr/>
        </p:nvSpPr>
        <p:spPr>
          <a:xfrm>
            <a:off x="7543800" y="6197600"/>
            <a:ext cx="685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Namsraijalbuu Bilguuntuguldur</a:t>
            </a:r>
            <a:endParaRPr lang="en-US" sz="2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팀원 소속"/>
          <p:cNvSpPr txBox="1"/>
          <p:nvPr/>
        </p:nvSpPr>
        <p:spPr>
          <a:xfrm>
            <a:off x="7543800" y="6553200"/>
            <a:ext cx="685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충북대학교 소프트웨어학부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391400" y="5943600"/>
            <a:ext cx="0" cy="83820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0" name="제목 시스템 구성"/>
          <p:cNvSpPr txBox="1"/>
          <p:nvPr/>
        </p:nvSpPr>
        <p:spPr>
          <a:xfrm>
            <a:off x="711200" y="7467600"/>
            <a:ext cx="279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시스템 구성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설명 시스템 구성"/>
          <p:cNvSpPr txBox="1"/>
          <p:nvPr/>
        </p:nvSpPr>
        <p:spPr>
          <a:xfrm>
            <a:off x="3505200" y="7467600"/>
            <a:ext cx="1090358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MySQL </a:t>
            </a:r>
            <a:r>
              <a:rPr lang="ko-KR" altLang="en-US" sz="15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에서도</a:t>
            </a:r>
            <a:r>
              <a:rPr lang="en-US" altLang="ko-KR" sz="15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en-US" sz="15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5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데스크톱 </a:t>
            </a:r>
            <a:r>
              <a:rPr lang="en-US" sz="1500" dirty="0" err="1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</a:t>
            </a:r>
            <a:r>
              <a:rPr lang="en-US" sz="15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앱</a:t>
            </a:r>
            <a:r>
              <a:rPr lang="ko-KR" altLang="en-US" sz="15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에서도</a:t>
            </a:r>
            <a:r>
              <a:rPr lang="en-US" altLang="ko-KR" sz="15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LLM </a:t>
            </a:r>
            <a:r>
              <a:rPr lang="en-US" sz="15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Agent</a:t>
            </a:r>
            <a:r>
              <a:rPr lang="ko-KR" altLang="en-US" sz="15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 같은 </a:t>
            </a:r>
            <a:r>
              <a:rPr lang="en-US" altLang="ko-KR" sz="15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RDBMS</a:t>
            </a:r>
            <a:r>
              <a:rPr lang="ko-KR" altLang="en-US" sz="15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서버에 접속이 가능하다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클라이언트 1"/>
          <p:cNvSpPr txBox="1"/>
          <p:nvPr/>
        </p:nvSpPr>
        <p:spPr>
          <a:xfrm>
            <a:off x="711200" y="8128000"/>
            <a:ext cx="3759200" cy="431800"/>
          </a:xfrm>
          <a:prstGeom prst="rect">
            <a:avLst/>
          </a:prstGeom>
          <a:solidFill>
            <a:srgbClr val="EEF3FA"/>
          </a:solidFill>
          <a:ln w="15875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mysql CLI · DBeaver · JDBC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클라이언트 2"/>
          <p:cNvSpPr txBox="1"/>
          <p:nvPr/>
        </p:nvSpPr>
        <p:spPr>
          <a:xfrm>
            <a:off x="711200" y="8661400"/>
            <a:ext cx="3759200" cy="431800"/>
          </a:xfrm>
          <a:prstGeom prst="rect">
            <a:avLst/>
          </a:prstGeom>
          <a:solidFill>
            <a:srgbClr val="EEF3FA"/>
          </a:solidFill>
          <a:ln w="15875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RuSQL Desktop (Tauri + React)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클라이언트 3"/>
          <p:cNvSpPr txBox="1"/>
          <p:nvPr/>
        </p:nvSpPr>
        <p:spPr>
          <a:xfrm>
            <a:off x="711200" y="9194800"/>
            <a:ext cx="3759200" cy="431800"/>
          </a:xfrm>
          <a:prstGeom prst="rect">
            <a:avLst/>
          </a:prstGeom>
          <a:solidFill>
            <a:srgbClr val="EEF3FA"/>
          </a:solidFill>
          <a:ln w="15875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Claude Desktop -&gt; MCP 서버 (Python)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서버 바탕"/>
          <p:cNvSpPr/>
          <p:nvPr/>
        </p:nvSpPr>
        <p:spPr>
          <a:xfrm>
            <a:off x="6527800" y="8128000"/>
            <a:ext cx="7880985" cy="1498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6" name="화살표 구성 1"/>
          <p:cNvSpPr/>
          <p:nvPr/>
        </p:nvSpPr>
        <p:spPr>
          <a:xfrm>
            <a:off x="4521200" y="8343900"/>
            <a:ext cx="195580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 w="lg" len="lg"/>
          </a:ln>
        </p:spPr>
      </p:sp>
      <p:sp>
        <p:nvSpPr>
          <p:cNvPr id="27" name="포트 구성 1"/>
          <p:cNvSpPr txBox="1"/>
          <p:nvPr/>
        </p:nvSpPr>
        <p:spPr>
          <a:xfrm>
            <a:off x="4572000" y="80264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MySQL 프로토콜 :3306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화살표 구성 2"/>
          <p:cNvSpPr/>
          <p:nvPr/>
        </p:nvSpPr>
        <p:spPr>
          <a:xfrm>
            <a:off x="4521200" y="8877300"/>
            <a:ext cx="195580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 w="lg" len="lg"/>
          </a:ln>
        </p:spPr>
      </p:sp>
      <p:sp>
        <p:nvSpPr>
          <p:cNvPr id="29" name="포트 구성 2"/>
          <p:cNvSpPr txBox="1"/>
          <p:nvPr/>
        </p:nvSpPr>
        <p:spPr>
          <a:xfrm>
            <a:off x="4572000" y="85598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자체 프로토콜 :7878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화살표 구성 3"/>
          <p:cNvSpPr/>
          <p:nvPr/>
        </p:nvSpPr>
        <p:spPr>
          <a:xfrm>
            <a:off x="4521200" y="9410700"/>
            <a:ext cx="195580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 w="lg" len="lg"/>
          </a:ln>
        </p:spPr>
      </p:sp>
      <p:sp>
        <p:nvSpPr>
          <p:cNvPr id="31" name="포트 구성 3"/>
          <p:cNvSpPr txBox="1"/>
          <p:nvPr/>
        </p:nvSpPr>
        <p:spPr>
          <a:xfrm>
            <a:off x="4572000" y="90932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자체 프로토콜 :7878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 28"/>
          <p:cNvSpPr txBox="1"/>
          <p:nvPr/>
        </p:nvSpPr>
        <p:spPr>
          <a:xfrm>
            <a:off x="6680200" y="8204200"/>
            <a:ext cx="757618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engine_server</a:t>
            </a:r>
            <a:r>
              <a:rPr lang="en-US" sz="1400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(C++): 세션마다 독립 Executor · 공유 DB(RwLock)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 29"/>
          <p:cNvSpPr txBox="1"/>
          <p:nvPr/>
        </p:nvSpPr>
        <p:spPr>
          <a:xfrm>
            <a:off x="6680200" y="8534400"/>
            <a:ext cx="1066800" cy="35560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Lexer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화살표 구성 단계 1"/>
          <p:cNvSpPr/>
          <p:nvPr/>
        </p:nvSpPr>
        <p:spPr>
          <a:xfrm>
            <a:off x="7785100" y="8712200"/>
            <a:ext cx="22860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 w="lg" len="lg"/>
          </a:ln>
        </p:spPr>
      </p:sp>
      <p:sp>
        <p:nvSpPr>
          <p:cNvPr id="35" name="Text 31"/>
          <p:cNvSpPr txBox="1"/>
          <p:nvPr/>
        </p:nvSpPr>
        <p:spPr>
          <a:xfrm>
            <a:off x="8051800" y="8534400"/>
            <a:ext cx="1168400" cy="35560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Parser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화살표 구성 단계 2"/>
          <p:cNvSpPr/>
          <p:nvPr/>
        </p:nvSpPr>
        <p:spPr>
          <a:xfrm>
            <a:off x="9258300" y="8712200"/>
            <a:ext cx="22860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 w="lg" len="lg"/>
          </a:ln>
        </p:spPr>
      </p:sp>
      <p:sp>
        <p:nvSpPr>
          <p:cNvPr id="37" name="Text 33"/>
          <p:cNvSpPr txBox="1"/>
          <p:nvPr/>
        </p:nvSpPr>
        <p:spPr>
          <a:xfrm>
            <a:off x="9525000" y="8534400"/>
            <a:ext cx="889000" cy="35560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AST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화살표 구성 단계 3"/>
          <p:cNvSpPr/>
          <p:nvPr/>
        </p:nvSpPr>
        <p:spPr>
          <a:xfrm>
            <a:off x="10452100" y="8712200"/>
            <a:ext cx="22860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 w="lg" len="lg"/>
          </a:ln>
        </p:spPr>
      </p:sp>
      <p:sp>
        <p:nvSpPr>
          <p:cNvPr id="39" name="Text 35"/>
          <p:cNvSpPr txBox="1"/>
          <p:nvPr/>
        </p:nvSpPr>
        <p:spPr>
          <a:xfrm>
            <a:off x="10718800" y="8534400"/>
            <a:ext cx="1905000" cy="35560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Cost-based Planner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화살표 구성 단계 4"/>
          <p:cNvSpPr/>
          <p:nvPr/>
        </p:nvSpPr>
        <p:spPr>
          <a:xfrm>
            <a:off x="12661900" y="8712200"/>
            <a:ext cx="22860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 w="lg" len="lg"/>
          </a:ln>
        </p:spPr>
      </p:sp>
      <p:sp>
        <p:nvSpPr>
          <p:cNvPr id="41" name="Text 37"/>
          <p:cNvSpPr txBox="1"/>
          <p:nvPr/>
        </p:nvSpPr>
        <p:spPr>
          <a:xfrm>
            <a:off x="12928600" y="8534400"/>
            <a:ext cx="1320800" cy="35560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Executor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Text 38"/>
          <p:cNvSpPr txBox="1"/>
          <p:nvPr/>
        </p:nvSpPr>
        <p:spPr>
          <a:xfrm>
            <a:off x="6680200" y="8991600"/>
            <a:ext cx="2423795" cy="53340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Index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B+Tree · Hash · 복합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 39"/>
          <p:cNvSpPr txBox="1"/>
          <p:nvPr/>
        </p:nvSpPr>
        <p:spPr>
          <a:xfrm>
            <a:off x="9256395" y="8991600"/>
            <a:ext cx="2423795" cy="53340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Transaction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MVCC · 행 단위 락 · WAL/Redo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 40"/>
          <p:cNvSpPr txBox="1"/>
          <p:nvPr/>
        </p:nvSpPr>
        <p:spPr>
          <a:xfrm>
            <a:off x="11832590" y="8991600"/>
            <a:ext cx="2423795" cy="53340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5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Storage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Buffer Pool · .rdb + LZ4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제목 시스템 흐름"/>
          <p:cNvSpPr txBox="1"/>
          <p:nvPr/>
        </p:nvSpPr>
        <p:spPr>
          <a:xfrm>
            <a:off x="711200" y="10083800"/>
            <a:ext cx="279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시스템 흐름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설명 시스템 흐름"/>
          <p:cNvSpPr txBox="1"/>
          <p:nvPr/>
        </p:nvSpPr>
        <p:spPr>
          <a:xfrm>
            <a:off x="3505200" y="10083800"/>
            <a:ext cx="1090358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5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데이터베이스 엔진의 전체적인 흐름</a:t>
            </a:r>
            <a:r>
              <a:rPr lang="en-US" altLang="ko-KR" sz="15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: </a:t>
            </a:r>
            <a:r>
              <a:rPr lang="ko-KR" altLang="en-US" sz="15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클라이언트에서 디스크로 저장되기까지의 과정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묶음 바탕(SQL 엔진)"/>
          <p:cNvSpPr/>
          <p:nvPr/>
        </p:nvSpPr>
        <p:spPr>
          <a:xfrm>
            <a:off x="6477000" y="12827000"/>
            <a:ext cx="6096000" cy="20828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8" name="묶음 이름(SQL 엔진)"/>
          <p:cNvSpPr txBox="1"/>
          <p:nvPr/>
        </p:nvSpPr>
        <p:spPr>
          <a:xfrm>
            <a:off x="6654800" y="145542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engine_core · SQL 엔진 (C++)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화살표 UI"/>
          <p:cNvSpPr/>
          <p:nvPr/>
        </p:nvSpPr>
        <p:spPr>
          <a:xfrm>
            <a:off x="2781300" y="12598400"/>
            <a:ext cx="647700" cy="1270000"/>
          </a:xfrm>
          <a:custGeom>
            <a:avLst/>
            <a:gdLst/>
            <a:ahLst/>
            <a:cxnLst/>
            <a:rect l="l" t="t" r="r" b="b"/>
            <a:pathLst>
              <a:path w="647700" h="1270000">
                <a:moveTo>
                  <a:pt x="0" y="0"/>
                </a:moveTo>
                <a:lnTo>
                  <a:pt x="647700" y="0"/>
                </a:lnTo>
                <a:lnTo>
                  <a:pt x="647700" y="1270000"/>
                </a:lnTo>
              </a:path>
            </a:pathLst>
          </a:cu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50" name="화살표 engine_client"/>
          <p:cNvSpPr/>
          <p:nvPr/>
        </p:nvSpPr>
        <p:spPr>
          <a:xfrm>
            <a:off x="2781300" y="13868400"/>
            <a:ext cx="647700" cy="1270000"/>
          </a:xfrm>
          <a:custGeom>
            <a:avLst/>
            <a:gdLst/>
            <a:ahLst/>
            <a:cxnLst/>
            <a:rect l="l" t="t" r="r" b="b"/>
            <a:pathLst>
              <a:path w="647700" h="1270000">
                <a:moveTo>
                  <a:pt x="0" y="1270000"/>
                </a:moveTo>
                <a:lnTo>
                  <a:pt x="647700" y="1270000"/>
                </a:lnTo>
                <a:lnTo>
                  <a:pt x="647700" y="0"/>
                </a:lnTo>
              </a:path>
            </a:pathLst>
          </a:cu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51" name="화살표 MySQL"/>
          <p:cNvSpPr/>
          <p:nvPr/>
        </p:nvSpPr>
        <p:spPr>
          <a:xfrm>
            <a:off x="2781300" y="13868400"/>
            <a:ext cx="647700" cy="2540000"/>
          </a:xfrm>
          <a:custGeom>
            <a:avLst/>
            <a:gdLst/>
            <a:ahLst/>
            <a:cxnLst/>
            <a:rect l="l" t="t" r="r" b="b"/>
            <a:pathLst>
              <a:path w="647700" h="2540000">
                <a:moveTo>
                  <a:pt x="0" y="2540000"/>
                </a:moveTo>
                <a:lnTo>
                  <a:pt x="647700" y="2540000"/>
                </a:lnTo>
                <a:lnTo>
                  <a:pt x="647700" y="0"/>
                </a:lnTo>
              </a:path>
            </a:pathLst>
          </a:cu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52" name="화살표 MCP-&gt;서버"/>
          <p:cNvSpPr/>
          <p:nvPr/>
        </p:nvSpPr>
        <p:spPr>
          <a:xfrm>
            <a:off x="2781300" y="13868400"/>
            <a:ext cx="130810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 w="lg" len="lg"/>
          </a:ln>
        </p:spPr>
      </p:sp>
      <p:sp>
        <p:nvSpPr>
          <p:cNvPr id="53" name="합류점"/>
          <p:cNvSpPr/>
          <p:nvPr/>
        </p:nvSpPr>
        <p:spPr>
          <a:xfrm>
            <a:off x="3378200" y="13817600"/>
            <a:ext cx="101600" cy="101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4" name="포트 1"/>
          <p:cNvSpPr txBox="1"/>
          <p:nvPr/>
        </p:nvSpPr>
        <p:spPr>
          <a:xfrm>
            <a:off x="2857500" y="12306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:7878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5" name="포트 2"/>
          <p:cNvSpPr txBox="1"/>
          <p:nvPr/>
        </p:nvSpPr>
        <p:spPr>
          <a:xfrm>
            <a:off x="2857500" y="13576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:7878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포트 3"/>
          <p:cNvSpPr txBox="1"/>
          <p:nvPr/>
        </p:nvSpPr>
        <p:spPr>
          <a:xfrm>
            <a:off x="2857500" y="14846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:7878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포트 4"/>
          <p:cNvSpPr txBox="1"/>
          <p:nvPr/>
        </p:nvSpPr>
        <p:spPr>
          <a:xfrm>
            <a:off x="2857500" y="16116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:3306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화살표 engine_cli-&gt;파서"/>
          <p:cNvSpPr/>
          <p:nvPr/>
        </p:nvSpPr>
        <p:spPr>
          <a:xfrm>
            <a:off x="2781300" y="11328400"/>
            <a:ext cx="4711700" cy="1854200"/>
          </a:xfrm>
          <a:custGeom>
            <a:avLst/>
            <a:gdLst/>
            <a:ahLst/>
            <a:cxnLst/>
            <a:rect l="l" t="t" r="r" b="b"/>
            <a:pathLst>
              <a:path w="4711700" h="1854200">
                <a:moveTo>
                  <a:pt x="0" y="0"/>
                </a:moveTo>
                <a:lnTo>
                  <a:pt x="4381500" y="0"/>
                </a:lnTo>
                <a:quadBezTo>
                  <a:pt x="4711700" y="0"/>
                  <a:pt x="4711700" y="330200"/>
                </a:quadBezTo>
                <a:lnTo>
                  <a:pt x="4711700" y="1854200"/>
                </a:lnTo>
              </a:path>
            </a:pathLst>
          </a:custGeom>
          <a:noFill/>
          <a:ln w="28575">
            <a:solidFill>
              <a:schemeClr val="accent5"/>
            </a:solidFill>
            <a:prstDash val="dash"/>
            <a:tailEnd type="triangle" w="lg" len="lg"/>
          </a:ln>
        </p:spPr>
      </p:sp>
      <p:sp>
        <p:nvSpPr>
          <p:cNvPr id="59" name="점선 설명"/>
          <p:cNvSpPr txBox="1"/>
          <p:nvPr/>
        </p:nvSpPr>
        <p:spPr>
          <a:xfrm>
            <a:off x="2959100" y="11010900"/>
            <a:ext cx="406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프로세스 내부 호출 · 네트워크 없음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화살표 흐름 1"/>
          <p:cNvSpPr/>
          <p:nvPr/>
        </p:nvSpPr>
        <p:spPr>
          <a:xfrm>
            <a:off x="6096000" y="13868400"/>
            <a:ext cx="59690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 w="lg" len="lg"/>
          </a:ln>
        </p:spPr>
      </p:sp>
      <p:sp>
        <p:nvSpPr>
          <p:cNvPr id="61" name="화살표 흐름 2"/>
          <p:cNvSpPr/>
          <p:nvPr/>
        </p:nvSpPr>
        <p:spPr>
          <a:xfrm>
            <a:off x="8293100" y="13868400"/>
            <a:ext cx="41910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 w="lg" len="lg"/>
          </a:ln>
        </p:spPr>
      </p:sp>
      <p:sp>
        <p:nvSpPr>
          <p:cNvPr id="62" name="화살표 흐름 3"/>
          <p:cNvSpPr/>
          <p:nvPr/>
        </p:nvSpPr>
        <p:spPr>
          <a:xfrm>
            <a:off x="10312400" y="13868400"/>
            <a:ext cx="41910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 w="lg" len="lg"/>
          </a:ln>
        </p:spPr>
      </p:sp>
      <p:sp>
        <p:nvSpPr>
          <p:cNvPr id="63" name="화살표 흐름 4"/>
          <p:cNvSpPr/>
          <p:nvPr/>
        </p:nvSpPr>
        <p:spPr>
          <a:xfrm>
            <a:off x="12331700" y="13868400"/>
            <a:ext cx="41910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 w="lg" len="lg"/>
          </a:ln>
        </p:spPr>
      </p:sp>
      <p:sp>
        <p:nvSpPr>
          <p:cNvPr id="64" name="화살표 트랜잭션-&gt;스토리지"/>
          <p:cNvSpPr/>
          <p:nvPr/>
        </p:nvSpPr>
        <p:spPr>
          <a:xfrm>
            <a:off x="13589000" y="14554200"/>
            <a:ext cx="0" cy="104140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 w="lg" len="lg"/>
          </a:ln>
        </p:spPr>
      </p:sp>
      <p:sp>
        <p:nvSpPr>
          <p:cNvPr id="65" name="화살표 스토리지-&gt;내구성"/>
          <p:cNvSpPr/>
          <p:nvPr/>
        </p:nvSpPr>
        <p:spPr>
          <a:xfrm flipH="1">
            <a:off x="12382500" y="16281400"/>
            <a:ext cx="36830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 w="lg" len="lg"/>
          </a:ln>
        </p:spPr>
      </p:sp>
      <p:sp>
        <p:nvSpPr>
          <p:cNvPr id="66" name="화살표 내구성-&gt;디스크"/>
          <p:cNvSpPr/>
          <p:nvPr/>
        </p:nvSpPr>
        <p:spPr>
          <a:xfrm flipH="1">
            <a:off x="10337800" y="16281400"/>
            <a:ext cx="36830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 w="lg" len="lg"/>
          </a:ln>
        </p:spPr>
      </p:sp>
      <p:sp>
        <p:nvSpPr>
          <p:cNvPr id="67" name="원통 engine_cli"/>
          <p:cNvSpPr txBox="1"/>
          <p:nvPr/>
        </p:nvSpPr>
        <p:spPr>
          <a:xfrm>
            <a:off x="800100" y="10960100"/>
            <a:ext cx="1981200" cy="876300"/>
          </a:xfrm>
          <a:custGeom>
            <a:avLst/>
            <a:gdLst/>
            <a:ahLst/>
            <a:cxnLst/>
            <a:rect l="l" t="t" r="r" b="b"/>
            <a:pathLst>
              <a:path w="1981200" h="876300">
                <a:moveTo>
                  <a:pt x="0" y="0"/>
                </a:moveTo>
                <a:lnTo>
                  <a:pt x="0" y="736600"/>
                </a:lnTo>
                <a:arcTo wR="990600" hR="139700" stAng="10800000" swAng="-10800000"/>
                <a:lnTo>
                  <a:pt x="1981200" y="0"/>
                </a:lnTo>
                <a:close/>
              </a:path>
            </a:pathLst>
          </a:custGeom>
          <a:solidFill>
            <a:srgbClr val="EEF3FA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engine_cli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Terminal REPL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8" name="원통 뚜껑 engine_cli"/>
          <p:cNvSpPr/>
          <p:nvPr/>
        </p:nvSpPr>
        <p:spPr>
          <a:xfrm>
            <a:off x="800100" y="10820400"/>
            <a:ext cx="1981200" cy="279400"/>
          </a:xfrm>
          <a:prstGeom prst="ellipse">
            <a:avLst/>
          </a:prstGeom>
          <a:solidFill>
            <a:srgbClr val="E1EAF4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9" name="원통 데스크톱 UI"/>
          <p:cNvSpPr txBox="1"/>
          <p:nvPr/>
        </p:nvSpPr>
        <p:spPr>
          <a:xfrm>
            <a:off x="800100" y="12230100"/>
            <a:ext cx="1981200" cy="876300"/>
          </a:xfrm>
          <a:custGeom>
            <a:avLst/>
            <a:gdLst/>
            <a:ahLst/>
            <a:cxnLst/>
            <a:rect l="l" t="t" r="r" b="b"/>
            <a:pathLst>
              <a:path w="1981200" h="876300">
                <a:moveTo>
                  <a:pt x="0" y="0"/>
                </a:moveTo>
                <a:lnTo>
                  <a:pt x="0" y="736600"/>
                </a:lnTo>
                <a:arcTo wR="990600" hR="139700" stAng="10800000" swAng="-10800000"/>
                <a:lnTo>
                  <a:pt x="1981200" y="0"/>
                </a:lnTo>
                <a:close/>
              </a:path>
            </a:pathLst>
          </a:custGeom>
          <a:solidFill>
            <a:srgbClr val="EEF3FA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Desktop UI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Tauri + React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0" name="원통 뚜껑 데스크톱 UI"/>
          <p:cNvSpPr/>
          <p:nvPr/>
        </p:nvSpPr>
        <p:spPr>
          <a:xfrm>
            <a:off x="800100" y="12090400"/>
            <a:ext cx="1981200" cy="279400"/>
          </a:xfrm>
          <a:prstGeom prst="ellipse">
            <a:avLst/>
          </a:prstGeom>
          <a:solidFill>
            <a:srgbClr val="E1EAF4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1" name="원통 Claude + MCP"/>
          <p:cNvSpPr txBox="1"/>
          <p:nvPr/>
        </p:nvSpPr>
        <p:spPr>
          <a:xfrm>
            <a:off x="800100" y="13500100"/>
            <a:ext cx="1981200" cy="876300"/>
          </a:xfrm>
          <a:custGeom>
            <a:avLst/>
            <a:gdLst/>
            <a:ahLst/>
            <a:cxnLst/>
            <a:rect l="l" t="t" r="r" b="b"/>
            <a:pathLst>
              <a:path w="1981200" h="876300">
                <a:moveTo>
                  <a:pt x="0" y="0"/>
                </a:moveTo>
                <a:lnTo>
                  <a:pt x="0" y="736600"/>
                </a:lnTo>
                <a:arcTo wR="990600" hR="139700" stAng="10800000" swAng="-10800000"/>
                <a:lnTo>
                  <a:pt x="1981200" y="0"/>
                </a:lnTo>
                <a:close/>
              </a:path>
            </a:pathLst>
          </a:custGeom>
          <a:solidFill>
            <a:srgbClr val="EEF3FA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Claude + MCP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26 MCP Tools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2" name="원통 뚜껑 Claude + MCP"/>
          <p:cNvSpPr/>
          <p:nvPr/>
        </p:nvSpPr>
        <p:spPr>
          <a:xfrm>
            <a:off x="800100" y="13360400"/>
            <a:ext cx="1981200" cy="279400"/>
          </a:xfrm>
          <a:prstGeom prst="ellipse">
            <a:avLst/>
          </a:prstGeom>
          <a:solidFill>
            <a:srgbClr val="E1EAF4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3" name="원통 engine_client"/>
          <p:cNvSpPr txBox="1"/>
          <p:nvPr/>
        </p:nvSpPr>
        <p:spPr>
          <a:xfrm>
            <a:off x="800100" y="14770100"/>
            <a:ext cx="1981200" cy="876300"/>
          </a:xfrm>
          <a:custGeom>
            <a:avLst/>
            <a:gdLst/>
            <a:ahLst/>
            <a:cxnLst/>
            <a:rect l="l" t="t" r="r" b="b"/>
            <a:pathLst>
              <a:path w="1981200" h="876300">
                <a:moveTo>
                  <a:pt x="0" y="0"/>
                </a:moveTo>
                <a:lnTo>
                  <a:pt x="0" y="736600"/>
                </a:lnTo>
                <a:arcTo wR="990600" hR="139700" stAng="10800000" swAng="-10800000"/>
                <a:lnTo>
                  <a:pt x="1981200" y="0"/>
                </a:lnTo>
                <a:close/>
              </a:path>
            </a:pathLst>
          </a:custGeom>
          <a:solidFill>
            <a:srgbClr val="EEF3FA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engine_client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TCP Client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4" name="원통 뚜껑 engine_client"/>
          <p:cNvSpPr/>
          <p:nvPr/>
        </p:nvSpPr>
        <p:spPr>
          <a:xfrm>
            <a:off x="800100" y="14630400"/>
            <a:ext cx="1981200" cy="279400"/>
          </a:xfrm>
          <a:prstGeom prst="ellipse">
            <a:avLst/>
          </a:prstGeom>
          <a:solidFill>
            <a:srgbClr val="E1EAF4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5" name="원통 MySQL 클라이언트"/>
          <p:cNvSpPr txBox="1"/>
          <p:nvPr/>
        </p:nvSpPr>
        <p:spPr>
          <a:xfrm>
            <a:off x="800100" y="16040100"/>
            <a:ext cx="1981200" cy="876300"/>
          </a:xfrm>
          <a:custGeom>
            <a:avLst/>
            <a:gdLst/>
            <a:ahLst/>
            <a:cxnLst/>
            <a:rect l="l" t="t" r="r" b="b"/>
            <a:pathLst>
              <a:path w="1981200" h="876300">
                <a:moveTo>
                  <a:pt x="0" y="0"/>
                </a:moveTo>
                <a:lnTo>
                  <a:pt x="0" y="736600"/>
                </a:lnTo>
                <a:arcTo wR="990600" hR="139700" stAng="10800000" swAng="-10800000"/>
                <a:lnTo>
                  <a:pt x="1981200" y="0"/>
                </a:lnTo>
                <a:close/>
              </a:path>
            </a:pathLst>
          </a:custGeom>
          <a:solidFill>
            <a:srgbClr val="EEF3FA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MySQL Client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DBeaver · JDBC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원통 뚜껑 MySQL 클라이언트"/>
          <p:cNvSpPr/>
          <p:nvPr/>
        </p:nvSpPr>
        <p:spPr>
          <a:xfrm>
            <a:off x="800100" y="15900400"/>
            <a:ext cx="1981200" cy="279400"/>
          </a:xfrm>
          <a:prstGeom prst="ellipse">
            <a:avLst/>
          </a:prstGeom>
          <a:solidFill>
            <a:srgbClr val="E1EAF4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7" name="원통 engine_server"/>
          <p:cNvSpPr txBox="1"/>
          <p:nvPr/>
        </p:nvSpPr>
        <p:spPr>
          <a:xfrm>
            <a:off x="4140200" y="13220700"/>
            <a:ext cx="1905000" cy="1435100"/>
          </a:xfrm>
          <a:custGeom>
            <a:avLst/>
            <a:gdLst/>
            <a:ahLst/>
            <a:cxnLst/>
            <a:rect l="l" t="t" r="r" b="b"/>
            <a:pathLst>
              <a:path w="1905000" h="1435100">
                <a:moveTo>
                  <a:pt x="0" y="0"/>
                </a:moveTo>
                <a:lnTo>
                  <a:pt x="0" y="1295400"/>
                </a:lnTo>
                <a:arcTo wR="952500" hR="139700" stAng="10800000" swAng="-10800000"/>
                <a:lnTo>
                  <a:pt x="1905000" y="0"/>
                </a:lnTo>
                <a:close/>
              </a:path>
            </a:pathLst>
          </a:custGeom>
          <a:solidFill>
            <a:schemeClr val="accent4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engine_server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Auth · Sessions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원통 뚜껑 engine_server"/>
          <p:cNvSpPr/>
          <p:nvPr/>
        </p:nvSpPr>
        <p:spPr>
          <a:xfrm>
            <a:off x="4140200" y="13081000"/>
            <a:ext cx="1905000" cy="279400"/>
          </a:xfrm>
          <a:prstGeom prst="ellipse">
            <a:avLst/>
          </a:prstGeom>
          <a:solidFill>
            <a:srgbClr val="C4D6E9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79" name="원통 파서"/>
          <p:cNvSpPr txBox="1"/>
          <p:nvPr/>
        </p:nvSpPr>
        <p:spPr>
          <a:xfrm>
            <a:off x="6743700" y="13373100"/>
            <a:ext cx="1498600" cy="1130300"/>
          </a:xfrm>
          <a:custGeom>
            <a:avLst/>
            <a:gdLst/>
            <a:ahLst/>
            <a:cxnLst/>
            <a:rect l="l" t="t" r="r" b="b"/>
            <a:pathLst>
              <a:path w="1498600" h="1130300">
                <a:moveTo>
                  <a:pt x="0" y="0"/>
                </a:moveTo>
                <a:lnTo>
                  <a:pt x="0" y="990600"/>
                </a:lnTo>
                <a:arcTo wR="749300" hR="139700" stAng="10800000" swAng="-10800000"/>
                <a:lnTo>
                  <a:pt x="149860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Parser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SQL -&gt; AST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0" name="원통 뚜껑 파서"/>
          <p:cNvSpPr/>
          <p:nvPr/>
        </p:nvSpPr>
        <p:spPr>
          <a:xfrm>
            <a:off x="6743700" y="13233400"/>
            <a:ext cx="1498600" cy="279400"/>
          </a:xfrm>
          <a:prstGeom prst="ellipse">
            <a:avLst/>
          </a:prstGeom>
          <a:solidFill>
            <a:srgbClr val="E3E5E8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81" name="원통 플래너"/>
          <p:cNvSpPr txBox="1"/>
          <p:nvPr/>
        </p:nvSpPr>
        <p:spPr>
          <a:xfrm>
            <a:off x="8763000" y="13373100"/>
            <a:ext cx="1498600" cy="1130300"/>
          </a:xfrm>
          <a:custGeom>
            <a:avLst/>
            <a:gdLst/>
            <a:ahLst/>
            <a:cxnLst/>
            <a:rect l="l" t="t" r="r" b="b"/>
            <a:pathLst>
              <a:path w="1498600" h="1130300">
                <a:moveTo>
                  <a:pt x="0" y="0"/>
                </a:moveTo>
                <a:lnTo>
                  <a:pt x="0" y="990600"/>
                </a:lnTo>
                <a:arcTo wR="749300" hR="139700" stAng="10800000" swAng="-10800000"/>
                <a:lnTo>
                  <a:pt x="149860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Planner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Cost-based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2" name="원통 뚜껑 플래너"/>
          <p:cNvSpPr/>
          <p:nvPr/>
        </p:nvSpPr>
        <p:spPr>
          <a:xfrm>
            <a:off x="8763000" y="13233400"/>
            <a:ext cx="1498600" cy="279400"/>
          </a:xfrm>
          <a:prstGeom prst="ellipse">
            <a:avLst/>
          </a:prstGeom>
          <a:solidFill>
            <a:srgbClr val="E3E5E8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83" name="원통 실행기"/>
          <p:cNvSpPr txBox="1"/>
          <p:nvPr/>
        </p:nvSpPr>
        <p:spPr>
          <a:xfrm>
            <a:off x="10782300" y="13373100"/>
            <a:ext cx="1498600" cy="1130300"/>
          </a:xfrm>
          <a:custGeom>
            <a:avLst/>
            <a:gdLst/>
            <a:ahLst/>
            <a:cxnLst/>
            <a:rect l="l" t="t" r="r" b="b"/>
            <a:pathLst>
              <a:path w="1498600" h="1130300">
                <a:moveTo>
                  <a:pt x="0" y="0"/>
                </a:moveTo>
                <a:lnTo>
                  <a:pt x="0" y="990600"/>
                </a:lnTo>
                <a:arcTo wR="749300" hR="139700" stAng="10800000" swAng="-10800000"/>
                <a:lnTo>
                  <a:pt x="149860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Executor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Join · Subquery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4" name="원통 뚜껑 실행기"/>
          <p:cNvSpPr/>
          <p:nvPr/>
        </p:nvSpPr>
        <p:spPr>
          <a:xfrm>
            <a:off x="10782300" y="13233400"/>
            <a:ext cx="1498600" cy="279400"/>
          </a:xfrm>
          <a:prstGeom prst="ellipse">
            <a:avLst/>
          </a:prstGeom>
          <a:solidFill>
            <a:srgbClr val="E3E5E8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85" name="원통 트랜잭션"/>
          <p:cNvSpPr txBox="1"/>
          <p:nvPr/>
        </p:nvSpPr>
        <p:spPr>
          <a:xfrm>
            <a:off x="12801600" y="13373100"/>
            <a:ext cx="1574800" cy="1130300"/>
          </a:xfrm>
          <a:custGeom>
            <a:avLst/>
            <a:gdLst/>
            <a:ahLst/>
            <a:cxnLst/>
            <a:rect l="l" t="t" r="r" b="b"/>
            <a:pathLst>
              <a:path w="1574800" h="1130300">
                <a:moveTo>
                  <a:pt x="0" y="0"/>
                </a:moveTo>
                <a:lnTo>
                  <a:pt x="0" y="990600"/>
                </a:lnTo>
                <a:arcTo wR="787400" hR="139700" stAng="10800000" swAng="-10800000"/>
                <a:lnTo>
                  <a:pt x="1574800" y="0"/>
                </a:lnTo>
                <a:close/>
              </a:path>
            </a:pathLst>
          </a:custGeom>
          <a:solidFill>
            <a:schemeClr val="bg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Transaction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MVCC · Lock · SSI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6" name="원통 뚜껑 트랜잭션"/>
          <p:cNvSpPr/>
          <p:nvPr/>
        </p:nvSpPr>
        <p:spPr>
          <a:xfrm>
            <a:off x="12801600" y="13233400"/>
            <a:ext cx="1574800" cy="279400"/>
          </a:xfrm>
          <a:prstGeom prst="ellipse">
            <a:avLst/>
          </a:prstGeom>
          <a:solidFill>
            <a:srgbClr val="DEE0E4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87" name="원통 스토리지"/>
          <p:cNvSpPr txBox="1"/>
          <p:nvPr/>
        </p:nvSpPr>
        <p:spPr>
          <a:xfrm>
            <a:off x="12801600" y="15786100"/>
            <a:ext cx="1574800" cy="1130300"/>
          </a:xfrm>
          <a:custGeom>
            <a:avLst/>
            <a:gdLst/>
            <a:ahLst/>
            <a:cxnLst/>
            <a:rect l="l" t="t" r="r" b="b"/>
            <a:pathLst>
              <a:path w="1574800" h="1130300">
                <a:moveTo>
                  <a:pt x="0" y="0"/>
                </a:moveTo>
                <a:lnTo>
                  <a:pt x="0" y="990600"/>
                </a:lnTo>
                <a:arcTo wR="787400" hR="139700" stAng="10800000" swAng="-10800000"/>
                <a:lnTo>
                  <a:pt x="1574800" y="0"/>
                </a:lnTo>
                <a:close/>
              </a:path>
            </a:pathLst>
          </a:custGeom>
          <a:solidFill>
            <a:schemeClr val="bg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Storage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B+Tree · Buffer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8" name="원통 뚜껑 스토리지"/>
          <p:cNvSpPr/>
          <p:nvPr/>
        </p:nvSpPr>
        <p:spPr>
          <a:xfrm>
            <a:off x="12801600" y="15646400"/>
            <a:ext cx="1574800" cy="279400"/>
          </a:xfrm>
          <a:prstGeom prst="ellipse">
            <a:avLst/>
          </a:prstGeom>
          <a:solidFill>
            <a:srgbClr val="DEE0E4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89" name="원통 내구성"/>
          <p:cNvSpPr txBox="1"/>
          <p:nvPr/>
        </p:nvSpPr>
        <p:spPr>
          <a:xfrm>
            <a:off x="10756900" y="15786100"/>
            <a:ext cx="1574800" cy="1130300"/>
          </a:xfrm>
          <a:custGeom>
            <a:avLst/>
            <a:gdLst/>
            <a:ahLst/>
            <a:cxnLst/>
            <a:rect l="l" t="t" r="r" b="b"/>
            <a:pathLst>
              <a:path w="1574800" h="1130300">
                <a:moveTo>
                  <a:pt x="0" y="0"/>
                </a:moveTo>
                <a:lnTo>
                  <a:pt x="0" y="990600"/>
                </a:lnTo>
                <a:arcTo wR="787400" hR="139700" stAng="10800000" swAng="-10800000"/>
                <a:lnTo>
                  <a:pt x="1574800" y="0"/>
                </a:lnTo>
                <a:close/>
              </a:path>
            </a:pathLst>
          </a:custGeom>
          <a:solidFill>
            <a:schemeClr val="bg2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Durability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WAL · Recovery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0" name="원통 뚜껑 내구성"/>
          <p:cNvSpPr/>
          <p:nvPr/>
        </p:nvSpPr>
        <p:spPr>
          <a:xfrm>
            <a:off x="10756900" y="15646400"/>
            <a:ext cx="1574800" cy="279400"/>
          </a:xfrm>
          <a:prstGeom prst="ellipse">
            <a:avLst/>
          </a:prstGeom>
          <a:solidFill>
            <a:srgbClr val="DEE0E4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91" name="원통 디스크 파일"/>
          <p:cNvSpPr txBox="1"/>
          <p:nvPr/>
        </p:nvSpPr>
        <p:spPr>
          <a:xfrm>
            <a:off x="8712200" y="15786100"/>
            <a:ext cx="1574800" cy="1130300"/>
          </a:xfrm>
          <a:custGeom>
            <a:avLst/>
            <a:gdLst/>
            <a:ahLst/>
            <a:cxnLst/>
            <a:rect l="l" t="t" r="r" b="b"/>
            <a:pathLst>
              <a:path w="1574800" h="1130300">
                <a:moveTo>
                  <a:pt x="0" y="0"/>
                </a:moveTo>
                <a:lnTo>
                  <a:pt x="0" y="990600"/>
                </a:lnTo>
                <a:arcTo wR="787400" hR="139700" stAng="10800000" swAng="-10800000"/>
                <a:lnTo>
                  <a:pt x="157480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Disk Files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*.rdb · redo · wal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2" name="원통 뚜껑 디스크 파일"/>
          <p:cNvSpPr/>
          <p:nvPr/>
        </p:nvSpPr>
        <p:spPr>
          <a:xfrm>
            <a:off x="8712200" y="15646400"/>
            <a:ext cx="1574800" cy="279400"/>
          </a:xfrm>
          <a:prstGeom prst="ellipse">
            <a:avLst/>
          </a:prstGeom>
          <a:solidFill>
            <a:srgbClr val="ECEEF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3" name="색 표시 1"/>
          <p:cNvSpPr/>
          <p:nvPr/>
        </p:nvSpPr>
        <p:spPr>
          <a:xfrm>
            <a:off x="3987800" y="15227300"/>
            <a:ext cx="203200" cy="203200"/>
          </a:xfrm>
          <a:prstGeom prst="rect">
            <a:avLst/>
          </a:prstGeom>
          <a:solidFill>
            <a:srgbClr val="EEF3FA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4" name="색 설명 1"/>
          <p:cNvSpPr txBox="1"/>
          <p:nvPr/>
        </p:nvSpPr>
        <p:spPr>
          <a:xfrm>
            <a:off x="4318000" y="15189200"/>
            <a:ext cx="279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클라이언트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5" name="색 표시 2"/>
          <p:cNvSpPr/>
          <p:nvPr/>
        </p:nvSpPr>
        <p:spPr>
          <a:xfrm>
            <a:off x="3987800" y="15557500"/>
            <a:ext cx="203200" cy="203200"/>
          </a:xfrm>
          <a:prstGeom prst="rect">
            <a:avLst/>
          </a:prstGeom>
          <a:solidFill>
            <a:schemeClr val="accent4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6" name="색 설명 2"/>
          <p:cNvSpPr txBox="1"/>
          <p:nvPr/>
        </p:nvSpPr>
        <p:spPr>
          <a:xfrm>
            <a:off x="4318000" y="15519400"/>
            <a:ext cx="279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서버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7" name="색 표시 3"/>
          <p:cNvSpPr/>
          <p:nvPr/>
        </p:nvSpPr>
        <p:spPr>
          <a:xfrm>
            <a:off x="3987800" y="15887700"/>
            <a:ext cx="203200" cy="20320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98" name="색 설명 3"/>
          <p:cNvSpPr txBox="1"/>
          <p:nvPr/>
        </p:nvSpPr>
        <p:spPr>
          <a:xfrm>
            <a:off x="4318000" y="15849600"/>
            <a:ext cx="279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SQL 엔진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9" name="색 표시 4"/>
          <p:cNvSpPr/>
          <p:nvPr/>
        </p:nvSpPr>
        <p:spPr>
          <a:xfrm>
            <a:off x="3987800" y="16217900"/>
            <a:ext cx="203200" cy="20320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00" name="색 설명 4"/>
          <p:cNvSpPr txBox="1"/>
          <p:nvPr/>
        </p:nvSpPr>
        <p:spPr>
          <a:xfrm>
            <a:off x="4318000" y="16179800"/>
            <a:ext cx="279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동시성 · 저장 · 내구성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1" name="제목 주요 기능"/>
          <p:cNvSpPr txBox="1"/>
          <p:nvPr/>
        </p:nvSpPr>
        <p:spPr>
          <a:xfrm>
            <a:off x="711200" y="17526000"/>
            <a:ext cx="556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기능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" name="Text 98"/>
          <p:cNvSpPr txBox="1"/>
          <p:nvPr/>
        </p:nvSpPr>
        <p:spPr>
          <a:xfrm>
            <a:off x="711200" y="18135600"/>
            <a:ext cx="5562600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600"/>
              </a:spcAft>
              <a:buSzPct val="100000"/>
              <a:buChar char="▪"/>
            </a:pPr>
            <a:r>
              <a:rPr 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광범위한 SQL </a:t>
            </a:r>
            <a:r>
              <a:rPr lang="en-US" sz="1400" b="1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쿼리</a:t>
            </a:r>
            <a:r>
              <a:rPr 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지원</a:t>
            </a:r>
            <a:r>
              <a:rPr 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SQL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작성한 쿼리의</a:t>
            </a:r>
            <a:r>
              <a:rPr 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조회·수정·분석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</a:t>
            </a:r>
            <a:r>
              <a:rPr 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실행하고</a:t>
            </a:r>
            <a:r>
              <a:rPr 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실제 </a:t>
            </a:r>
            <a:r>
              <a:rPr 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MySQL과</a:t>
            </a:r>
            <a:r>
              <a:rPr 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호환이 가능한 것을 토대로 결과를</a:t>
            </a:r>
            <a:r>
              <a:rPr 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비교하여 검증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 algn="l">
              <a:spcAft>
                <a:spcPts val="600"/>
              </a:spcAft>
              <a:buSzPct val="100000"/>
              <a:buChar char="▪"/>
            </a:pPr>
            <a:r>
              <a:rPr 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여러 명이 </a:t>
            </a:r>
            <a:r>
              <a:rPr lang="en-US" sz="1400" b="1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동시에</a:t>
            </a:r>
            <a:r>
              <a:rPr 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사용해도</a:t>
            </a:r>
            <a:r>
              <a:rPr 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안전</a:t>
            </a:r>
            <a:r>
              <a:rPr 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트랜잭션 격리 4단계 &amp; </a:t>
            </a:r>
            <a:r>
              <a:rPr 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MVCC로</a:t>
            </a:r>
            <a:r>
              <a:rPr 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결과가</a:t>
            </a:r>
            <a:r>
              <a:rPr 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어긋나지 않게 처리, 커밋한 내용은 강제 종료되어도 redo 로그로 복구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7800" indent="-177800" algn="l">
              <a:spcAft>
                <a:spcPts val="600"/>
              </a:spcAft>
              <a:buSzPct val="100000"/>
              <a:buChar char="▪"/>
            </a:pPr>
            <a:r>
              <a:rPr 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Agent가 </a:t>
            </a:r>
            <a:r>
              <a:rPr lang="en-US" sz="1400" b="1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직접</a:t>
            </a:r>
            <a:r>
              <a:rPr 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행동</a:t>
            </a:r>
            <a:r>
              <a:rPr 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초보자도 LLM에게 자연어로 요청하면 AI가 </a:t>
            </a:r>
            <a:r>
              <a:rPr lang="en-US" sz="14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직접</a:t>
            </a:r>
            <a:r>
              <a:rPr 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요청에 대한</a:t>
            </a:r>
            <a:r>
              <a:rPr 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행동을 수행, 위험한 쿼리는 확인 후에만 실행하여 보안 강화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" name="제목 AI Agent 연동 (MCP)"/>
          <p:cNvSpPr txBox="1"/>
          <p:nvPr/>
        </p:nvSpPr>
        <p:spPr>
          <a:xfrm>
            <a:off x="6908800" y="17526000"/>
            <a:ext cx="749998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Agent MCP </a:t>
            </a:r>
            <a:r>
              <a:rPr lang="ko-KR" altLang="en-US" sz="2800" b="1" dirty="0">
                <a:solidFill>
                  <a:schemeClr val="tx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연동</a:t>
            </a:r>
            <a:endParaRPr 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" name="Text 100"/>
          <p:cNvSpPr txBox="1"/>
          <p:nvPr/>
        </p:nvSpPr>
        <p:spPr>
          <a:xfrm>
            <a:off x="6908800" y="18135600"/>
            <a:ext cx="2133600" cy="584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LLM AI Agent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5" name="Shape 101"/>
          <p:cNvSpPr/>
          <p:nvPr/>
        </p:nvSpPr>
        <p:spPr>
          <a:xfrm>
            <a:off x="9080500" y="18326100"/>
            <a:ext cx="47339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6" name="Shape 102"/>
          <p:cNvSpPr/>
          <p:nvPr/>
        </p:nvSpPr>
        <p:spPr>
          <a:xfrm flipH="1">
            <a:off x="9080500" y="18529300"/>
            <a:ext cx="47339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7" name="Text 103"/>
          <p:cNvSpPr txBox="1"/>
          <p:nvPr/>
        </p:nvSpPr>
        <p:spPr>
          <a:xfrm>
            <a:off x="9591993" y="18135600"/>
            <a:ext cx="2133600" cy="5842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3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MCP </a:t>
            </a:r>
            <a:r>
              <a:rPr lang="en-US" sz="1300" b="1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서버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" name="Shape 104"/>
          <p:cNvSpPr/>
          <p:nvPr/>
        </p:nvSpPr>
        <p:spPr>
          <a:xfrm>
            <a:off x="11763693" y="18326100"/>
            <a:ext cx="47339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9" name="Shape 105"/>
          <p:cNvSpPr/>
          <p:nvPr/>
        </p:nvSpPr>
        <p:spPr>
          <a:xfrm flipH="1">
            <a:off x="11763693" y="18529300"/>
            <a:ext cx="47339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0" name="Text 106"/>
          <p:cNvSpPr txBox="1"/>
          <p:nvPr/>
        </p:nvSpPr>
        <p:spPr>
          <a:xfrm>
            <a:off x="12275185" y="18135600"/>
            <a:ext cx="2133600" cy="584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RuSQL 서버 + 앱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1" name="Text 107"/>
          <p:cNvSpPr txBox="1"/>
          <p:nvPr/>
        </p:nvSpPr>
        <p:spPr>
          <a:xfrm>
            <a:off x="6908800" y="18897600"/>
            <a:ext cx="7499985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400"/>
              </a:spcAft>
              <a:buSzPct val="100000"/>
              <a:buChar char="▪"/>
            </a:pPr>
            <a:r>
              <a:rPr lang="ko-KR" altLang="en-US" sz="15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모든 행동을 </a:t>
            </a:r>
            <a:r>
              <a:rPr lang="en-US" altLang="ko-KR" sz="15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5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 직접</a:t>
            </a:r>
            <a:r>
              <a:rPr lang="en-US" altLang="ko-KR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수행 </a:t>
            </a:r>
            <a:r>
              <a:rPr lang="en-US" altLang="ko-KR" sz="15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5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연결</a:t>
            </a:r>
            <a:r>
              <a:rPr lang="en-US" altLang="ko-KR" sz="15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5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쿼리</a:t>
            </a:r>
            <a:r>
              <a:rPr lang="en-US" altLang="ko-KR" sz="15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5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화면 조작</a:t>
            </a:r>
            <a:r>
              <a:rPr lang="en-US" altLang="ko-KR" sz="15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5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서버 제어 등 여러 도구로 요청 수행</a:t>
            </a:r>
          </a:p>
          <a:p>
            <a:pPr marL="177800" indent="-177800" algn="l">
              <a:spcAft>
                <a:spcPts val="400"/>
              </a:spcAft>
              <a:buSzPct val="100000"/>
              <a:buChar char="▪"/>
            </a:pPr>
            <a:r>
              <a:rPr lang="ko-KR" altLang="en-US" sz="15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위험 쿼리는 확인 후에만 </a:t>
            </a:r>
            <a:r>
              <a:rPr lang="en-US" altLang="ko-KR" sz="15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sz="15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DROP·TRUNCATE·WHERE </a:t>
            </a:r>
            <a:r>
              <a:rPr lang="ko-KR" altLang="en-US" sz="15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없는 </a:t>
            </a:r>
            <a:r>
              <a:rPr lang="en-US" altLang="ko-KR" sz="15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UPDATE/DELETE </a:t>
            </a:r>
            <a:r>
              <a:rPr lang="ko-KR" altLang="en-US" sz="15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차단 등</a:t>
            </a:r>
          </a:p>
          <a:p>
            <a:pPr marL="177800" indent="-177800" algn="l">
              <a:spcAft>
                <a:spcPts val="400"/>
              </a:spcAft>
              <a:buSzPct val="100000"/>
              <a:buChar char="▪"/>
            </a:pPr>
            <a:r>
              <a:rPr lang="ko-KR" altLang="en-US" sz="15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변경은 미리보기 후 커밋 </a:t>
            </a:r>
            <a:r>
              <a:rPr lang="en-US" altLang="ko-KR" sz="15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5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영향 받는 행을 먼저 확인하고 동의 시에만 반영하여 보안 강화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2" name="구분선"/>
          <p:cNvSpPr/>
          <p:nvPr/>
        </p:nvSpPr>
        <p:spPr>
          <a:xfrm>
            <a:off x="644207" y="7188200"/>
            <a:ext cx="13697585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13" name="구분선"/>
          <p:cNvSpPr/>
          <p:nvPr/>
        </p:nvSpPr>
        <p:spPr>
          <a:xfrm>
            <a:off x="711200" y="9885082"/>
            <a:ext cx="13697585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14" name="구분선"/>
          <p:cNvSpPr/>
          <p:nvPr/>
        </p:nvSpPr>
        <p:spPr>
          <a:xfrm>
            <a:off x="711200" y="17303750"/>
            <a:ext cx="13697585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15" name="구분선"/>
          <p:cNvSpPr/>
          <p:nvPr/>
        </p:nvSpPr>
        <p:spPr>
          <a:xfrm>
            <a:off x="711200" y="19932650"/>
            <a:ext cx="13697585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16" name="Text 112"/>
          <p:cNvSpPr txBox="1"/>
          <p:nvPr/>
        </p:nvSpPr>
        <p:spPr>
          <a:xfrm>
            <a:off x="711200" y="20173950"/>
            <a:ext cx="4724400" cy="962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accen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환경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C++ · CMake · nlohmann/json · LZ4 · Catch2 · SHA-1 · PicoSHA2 · Rust · Python · Node.js · Tauri · React · Monaco Editor · Vite · TypeScript · sql-formatter · Python MCP SDK · MySQL · PyMySQL · matplotlib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7" name="Text 113"/>
          <p:cNvSpPr txBox="1"/>
          <p:nvPr/>
        </p:nvSpPr>
        <p:spPr>
          <a:xfrm>
            <a:off x="5156200" y="20173950"/>
            <a:ext cx="7112000" cy="962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참고문헌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C. Mohan et al., ARIES, ACM TODS, 1992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M. J. Cahill et al., Serializable Isolation for Snapshot Databases, SIGMOD 2008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P. G. Selinger et al., Access Path Selection in a Relational DBMS, SIGMOD 1979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H. Berenson et al., A Critique of ANSI SQL Isolation Levels, SIGMOD 1995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8" name="GitHub QR" descr="GitHub 저장소 QR 코드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46379" y="20173950"/>
            <a:ext cx="962406" cy="962406"/>
          </a:xfrm>
          <a:prstGeom prst="rect">
            <a:avLst/>
          </a:prstGeom>
        </p:spPr>
      </p:pic>
      <p:sp>
        <p:nvSpPr>
          <p:cNvPr id="119" name="Text 114"/>
          <p:cNvSpPr txBox="1"/>
          <p:nvPr/>
        </p:nvSpPr>
        <p:spPr>
          <a:xfrm>
            <a:off x="10474579" y="20173950"/>
            <a:ext cx="2794000" cy="962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accen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GitHub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r">
              <a:buNone/>
            </a:pPr>
            <a:r>
              <a:rPr 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github.com/rspstat/RuSQL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uSQL Poster">
  <a:themeElements>
    <a:clrScheme name="RuSQL Poster">
      <a:dk1>
        <a:srgbClr val="1B2430"/>
      </a:dk1>
      <a:lt1>
        <a:srgbClr val="FFFFFF"/>
      </a:lt1>
      <a:dk2>
        <a:srgbClr val="12263F"/>
      </a:dk2>
      <a:lt2>
        <a:srgbClr val="F2F4F7"/>
      </a:lt2>
      <a:accent1>
        <a:srgbClr val="2B6CB0"/>
      </a:accent1>
      <a:accent2>
        <a:srgbClr val="8A94A6"/>
      </a:accent2>
      <a:accent3>
        <a:srgbClr val="C9D0DA"/>
      </a:accent3>
      <a:accent4>
        <a:srgbClr val="DCE6F2"/>
      </a:accent4>
      <a:accent5>
        <a:srgbClr val="5A667A"/>
      </a:accent5>
      <a:accent6>
        <a:srgbClr val="B45309"/>
      </a:accent6>
      <a:hlink>
        <a:srgbClr val="2B6CB0"/>
      </a:hlink>
      <a:folHlink>
        <a:srgbClr val="5A667A"/>
      </a:folHlink>
    </a:clrScheme>
    <a:fontScheme name="RuSQL Poster">
      <a:majorFont>
        <a:latin typeface="Noto Sans KR"/>
        <a:ea typeface="Noto Sans KR"/>
        <a:cs typeface="Noto Sans KR"/>
        <a:font script="Jpan" typeface="游ゴシック Light"/>
        <a:font script="Hang" typeface="Noto Sans KR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Noto Sans KR"/>
        <a:cs typeface="Noto Sans KR"/>
        <a:font script="Jpan" typeface="游ゴシック"/>
        <a:font script="Hang" typeface="Noto Sans KR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580</Words>
  <Application>Microsoft Office PowerPoint</Application>
  <PresentationFormat>Custom</PresentationFormat>
  <Paragraphs>96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Noto Sans KR</vt:lpstr>
      <vt:lpstr>RuSQL Poster</vt:lpstr>
      <vt:lpstr>RuSQL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RuSQL 전시회 포스터</dc:title>
  <dc:subject>2026년 캡스톤디자인 졸업작품 전시회 포스터</dc:subject>
  <dc:creator>김규현</dc:creator>
  <cp:lastModifiedBy>win11</cp:lastModifiedBy>
  <cp:revision>32</cp:revision>
  <dcterms:created xsi:type="dcterms:W3CDTF">2026-10-24T23:07:54Z</dcterms:created>
  <dcterms:modified xsi:type="dcterms:W3CDTF">2026-10-26T13:15:47Z</dcterms:modified>
</cp:coreProperties>
</file>